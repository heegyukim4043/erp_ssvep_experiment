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72" r:id="rId1"/>
  </p:sldMasterIdLst>
  <p:notesMasterIdLst>
    <p:notesMasterId r:id="rId18"/>
  </p:notesMasterIdLst>
  <p:handoutMasterIdLst>
    <p:handoutMasterId r:id="rId19"/>
  </p:handoutMasterIdLst>
  <p:sldIdLst>
    <p:sldId id="456" r:id="rId2"/>
    <p:sldId id="501" r:id="rId3"/>
    <p:sldId id="502" r:id="rId4"/>
    <p:sldId id="503" r:id="rId5"/>
    <p:sldId id="507" r:id="rId6"/>
    <p:sldId id="508" r:id="rId7"/>
    <p:sldId id="510" r:id="rId8"/>
    <p:sldId id="511" r:id="rId9"/>
    <p:sldId id="513" r:id="rId10"/>
    <p:sldId id="514" r:id="rId11"/>
    <p:sldId id="515" r:id="rId12"/>
    <p:sldId id="516" r:id="rId13"/>
    <p:sldId id="505" r:id="rId14"/>
    <p:sldId id="504" r:id="rId15"/>
    <p:sldId id="506" r:id="rId16"/>
    <p:sldId id="509" r:id="rId17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68F3DEC-7343-4D89-8387-D464256CAB81}">
          <p14:sldIdLst>
            <p14:sldId id="456"/>
            <p14:sldId id="501"/>
            <p14:sldId id="502"/>
            <p14:sldId id="503"/>
            <p14:sldId id="507"/>
            <p14:sldId id="508"/>
            <p14:sldId id="510"/>
            <p14:sldId id="511"/>
            <p14:sldId id="513"/>
            <p14:sldId id="514"/>
            <p14:sldId id="515"/>
            <p14:sldId id="516"/>
          </p14:sldIdLst>
        </p14:section>
        <p14:section name="제목 없는 구역" id="{DCF22CCB-E2E6-45FA-BEBD-29D401AD7C56}">
          <p14:sldIdLst>
            <p14:sldId id="505"/>
            <p14:sldId id="504"/>
            <p14:sldId id="506"/>
            <p14:sldId id="5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3229"/>
    <a:srgbClr val="FFFFFF"/>
    <a:srgbClr val="20CDD6"/>
    <a:srgbClr val="B0B0B2"/>
    <a:srgbClr val="59625D"/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76" autoAdjust="0"/>
    <p:restoredTop sz="88502" autoAdjust="0"/>
  </p:normalViewPr>
  <p:slideViewPr>
    <p:cSldViewPr snapToGrid="0">
      <p:cViewPr>
        <p:scale>
          <a:sx n="125" d="100"/>
          <a:sy n="125" d="100"/>
        </p:scale>
        <p:origin x="456" y="-462"/>
      </p:cViewPr>
      <p:guideLst>
        <p:guide orient="horz" pos="213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6F9EA-3007-4F7C-9BAC-D0007944FDA1}" type="datetimeFigureOut">
              <a:rPr lang="ko-KR" altLang="en-US" smtClean="0"/>
              <a:t>2026-05-05-Tue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DFFE3-7575-4211-ABE6-822482F530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224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38BFA-B2FE-4B89-811A-026E640FDB66}" type="datetimeFigureOut">
              <a:rPr lang="ko-KR" altLang="en-US" smtClean="0"/>
              <a:t>2026-05-05-Tue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AB0BF-EE57-4C2F-853D-0AF0DC2B97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513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1AB0BF-EE57-4C2F-853D-0AF0DC2B970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117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41186-E674-4A59-A21B-C354B7C4A19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519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41186-E674-4A59-A21B-C354B7C4A19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332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41186-E674-4A59-A21B-C354B7C4A19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893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41186-E674-4A59-A21B-C354B7C4A19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202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41186-E674-4A59-A21B-C354B7C4A19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308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41186-E674-4A59-A21B-C354B7C4A19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437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41186-E674-4A59-A21B-C354B7C4A19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093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41186-E674-4A59-A21B-C354B7C4A19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877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41186-E674-4A59-A21B-C354B7C4A19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196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41186-E674-4A59-A21B-C354B7C4A19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2632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41186-E674-4A59-A21B-C354B7C4A19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633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41186-E674-4A59-A21B-C354B7C4A19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140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41186-E674-4A59-A21B-C354B7C4A19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9998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41186-E674-4A59-A21B-C354B7C4A19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9082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41186-E674-4A59-A21B-C354B7C4A19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13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2CBD-1080-4952-8AA0-71AA79B97574}" type="datetime1">
              <a:rPr lang="en-US" altLang="ko-KR" smtClean="0"/>
              <a:t>5/5/2026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72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407-93E3-4FCF-BDEC-29279F9FAD0B}" type="datetime1">
              <a:rPr lang="en-US" altLang="ko-KR" smtClean="0"/>
              <a:t>5/5/2026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39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B4FD-2182-4919-8198-4F1089F301EA}" type="datetime1">
              <a:rPr lang="en-US" altLang="ko-KR" smtClean="0"/>
              <a:t>5/5/2026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306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E22F7-BADF-4D91-97A8-541D6BB3B77E}" type="datetime1">
              <a:rPr lang="en-US" altLang="ko-KR" smtClean="0"/>
              <a:t>5/5/2026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45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049F-863E-45CE-80E3-F21108CE2F3A}" type="datetime1">
              <a:rPr lang="en-US" altLang="ko-KR" smtClean="0"/>
              <a:t>5/5/2026</a:t>
            </a:fld>
            <a:endParaRPr 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266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6C43-B800-4195-83EE-E9D8AC285C39}" type="datetime1">
              <a:rPr lang="en-US" altLang="ko-KR" smtClean="0"/>
              <a:t>5/5/2026</a:t>
            </a:fld>
            <a:endParaRPr 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38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236E-2409-4EC2-A8D1-D1485C476262}" type="datetime1">
              <a:rPr lang="en-US" altLang="ko-KR" smtClean="0"/>
              <a:t>5/5/2026</a:t>
            </a:fld>
            <a:endParaRPr 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419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3ADD-D1E3-4313-8CE6-CEDC49F6D05A}" type="datetime1">
              <a:rPr lang="en-US" altLang="ko-KR" smtClean="0"/>
              <a:t>5/5/2026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72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63071-F3CF-4622-AFAA-56EE5871BD75}" type="datetime1">
              <a:rPr lang="en-US" altLang="ko-KR" smtClean="0"/>
              <a:t>5/5/2026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159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18DF1-715B-4566-9622-E8206AEF9618}" type="datetime1">
              <a:rPr lang="en-US" altLang="ko-KR" smtClean="0"/>
              <a:t>5/5/2026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021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1E49-4875-4A36-B834-15A153A16594}" type="datetime1">
              <a:rPr lang="en-US" altLang="ko-KR" smtClean="0"/>
              <a:t>5/5/2026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98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D78B4-824C-4469-B58A-16C4E61C33B5}" type="datetime1">
              <a:rPr lang="en-US" altLang="ko-KR" smtClean="0"/>
              <a:t>5/5/2026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711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eglab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25.PNG"/><Relationship Id="rId9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17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제목 1"/>
          <p:cNvSpPr>
            <a:spLocks noGrp="1"/>
          </p:cNvSpPr>
          <p:nvPr>
            <p:ph type="ctrTitle"/>
          </p:nvPr>
        </p:nvSpPr>
        <p:spPr>
          <a:xfrm>
            <a:off x="612437" y="1110129"/>
            <a:ext cx="10391874" cy="1861973"/>
          </a:xfrm>
        </p:spPr>
        <p:txBody>
          <a:bodyPr>
            <a:noAutofit/>
          </a:bodyPr>
          <a:lstStyle/>
          <a:p>
            <a:r>
              <a:rPr lang="en-US" altLang="ko-KR" sz="4500" b="1" dirty="0" smtClean="0">
                <a:latin typeface="Verdana" panose="020B0604030504040204" pitchFamily="34" charset="0"/>
                <a:ea typeface="210 맨발의청춘 R" panose="02020603020101020101" pitchFamily="18" charset="-127"/>
                <a:cs typeface="Tahoma" panose="020B0604030504040204" pitchFamily="34" charset="0"/>
              </a:rPr>
              <a:t>SSVEP</a:t>
            </a:r>
            <a:r>
              <a:rPr lang="en-US" altLang="ko-KR" sz="4500" b="1" dirty="0" smtClean="0">
                <a:latin typeface="Verdana" panose="020B0604030504040204" pitchFamily="34" charset="0"/>
                <a:ea typeface="210 맨발의청춘 R" panose="02020603020101020101" pitchFamily="18" charset="-127"/>
                <a:cs typeface="Tahoma" panose="020B0604030504040204" pitchFamily="34" charset="0"/>
              </a:rPr>
              <a:t> </a:t>
            </a:r>
            <a:r>
              <a:rPr lang="en-US" altLang="ko-KR" sz="4500" b="1" dirty="0" smtClean="0">
                <a:latin typeface="Verdana" panose="020B0604030504040204" pitchFamily="34" charset="0"/>
                <a:ea typeface="210 맨발의청춘 R" panose="02020603020101020101" pitchFamily="18" charset="-127"/>
                <a:cs typeface="Tahoma" panose="020B0604030504040204" pitchFamily="34" charset="0"/>
              </a:rPr>
              <a:t>manual</a:t>
            </a:r>
            <a:endParaRPr lang="ko-KR" altLang="en-US" sz="4500" b="1" dirty="0">
              <a:latin typeface="Verdana" panose="020B0604030504040204" pitchFamily="34" charset="0"/>
              <a:ea typeface="210 맨발의청춘 R" panose="02020603020101020101" pitchFamily="18" charset="-127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812801" y="3027336"/>
            <a:ext cx="10087074" cy="63715"/>
          </a:xfrm>
          <a:prstGeom prst="rect">
            <a:avLst/>
          </a:prstGeom>
          <a:solidFill>
            <a:srgbClr val="B3B3B3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1497462" y="2961994"/>
            <a:ext cx="616060" cy="182873"/>
          </a:xfrm>
          <a:prstGeom prst="rect">
            <a:avLst/>
          </a:prstGeom>
          <a:solidFill>
            <a:srgbClr val="596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0881402" y="2961994"/>
            <a:ext cx="616060" cy="182873"/>
          </a:xfrm>
          <a:prstGeom prst="rect">
            <a:avLst/>
          </a:prstGeom>
          <a:solidFill>
            <a:srgbClr val="DF32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033" y="6338418"/>
            <a:ext cx="1865588" cy="519582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223" y="5933787"/>
            <a:ext cx="1649304" cy="40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04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/>
          <p:nvPr/>
        </p:nvGrpSpPr>
        <p:grpSpPr>
          <a:xfrm>
            <a:off x="155955" y="192171"/>
            <a:ext cx="11726297" cy="730931"/>
            <a:chOff x="155955" y="192171"/>
            <a:chExt cx="11726297" cy="730931"/>
          </a:xfrm>
        </p:grpSpPr>
        <p:grpSp>
          <p:nvGrpSpPr>
            <p:cNvPr id="8" name="Group 2"/>
            <p:cNvGrpSpPr/>
            <p:nvPr/>
          </p:nvGrpSpPr>
          <p:grpSpPr>
            <a:xfrm>
              <a:off x="155955" y="760262"/>
              <a:ext cx="11726297" cy="162840"/>
              <a:chOff x="155955" y="760262"/>
              <a:chExt cx="11726297" cy="1628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5099" y="831939"/>
                <a:ext cx="11717153" cy="0"/>
              </a:xfrm>
              <a:prstGeom prst="line">
                <a:avLst/>
              </a:prstGeom>
              <a:ln w="28575">
                <a:solidFill>
                  <a:srgbClr val="B3B3B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직사각형 12"/>
              <p:cNvSpPr/>
              <p:nvPr/>
            </p:nvSpPr>
            <p:spPr>
              <a:xfrm>
                <a:off x="772015" y="760262"/>
                <a:ext cx="616060" cy="162840"/>
              </a:xfrm>
              <a:prstGeom prst="rect">
                <a:avLst/>
              </a:prstGeom>
              <a:solidFill>
                <a:srgbClr val="DF32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55955" y="760262"/>
                <a:ext cx="616060" cy="162840"/>
              </a:xfrm>
              <a:prstGeom prst="rect">
                <a:avLst/>
              </a:prstGeom>
              <a:solidFill>
                <a:srgbClr val="B0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55955" y="192171"/>
              <a:ext cx="9728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 smtClean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EEGLAB</a:t>
              </a:r>
              <a:endParaRPr lang="ko-KR" alt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310394" y="1122946"/>
            <a:ext cx="11585195" cy="559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EEGLAB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관련 링크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https://eeglab.org/</a:t>
            </a:r>
            <a:endParaRPr lang="en-US" altLang="ko-K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EEGLAB </a:t>
            </a:r>
            <a:r>
              <a:rPr lang="ko-KR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이란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1200150" lvl="2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MATLAB </a:t>
            </a:r>
            <a:r>
              <a:rPr lang="ko-KR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기반의 오픈소스 </a:t>
            </a:r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EEG </a:t>
            </a:r>
            <a:r>
              <a:rPr lang="ko-KR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분석 </a:t>
            </a:r>
            <a:r>
              <a:rPr lang="ko-KR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툴박스</a:t>
            </a:r>
            <a:endParaRPr lang="en-US" altLang="ko-KR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EEG </a:t>
            </a:r>
            <a:r>
              <a:rPr lang="ko-KR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데이터를 전처리</a:t>
            </a:r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(preprocessing)·</a:t>
            </a:r>
            <a:r>
              <a:rPr lang="ko-KR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시각화</a:t>
            </a:r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통계</a:t>
            </a:r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ko-KR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시간</a:t>
            </a:r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ko-KR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주파수 분석</a:t>
            </a:r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·ICA </a:t>
            </a:r>
            <a:r>
              <a:rPr lang="ko-KR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기반 </a:t>
            </a:r>
            <a:r>
              <a:rPr lang="ko-KR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아티팩트</a:t>
            </a:r>
            <a:r>
              <a:rPr lang="ko-KR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제거를 위해 주로 사용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114" y="3165181"/>
            <a:ext cx="6384175" cy="326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6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/>
          <p:nvPr/>
        </p:nvGrpSpPr>
        <p:grpSpPr>
          <a:xfrm>
            <a:off x="155955" y="192171"/>
            <a:ext cx="11726297" cy="730931"/>
            <a:chOff x="155955" y="192171"/>
            <a:chExt cx="11726297" cy="730931"/>
          </a:xfrm>
        </p:grpSpPr>
        <p:grpSp>
          <p:nvGrpSpPr>
            <p:cNvPr id="8" name="Group 2"/>
            <p:cNvGrpSpPr/>
            <p:nvPr/>
          </p:nvGrpSpPr>
          <p:grpSpPr>
            <a:xfrm>
              <a:off x="155955" y="760262"/>
              <a:ext cx="11726297" cy="162840"/>
              <a:chOff x="155955" y="760262"/>
              <a:chExt cx="11726297" cy="1628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5099" y="831939"/>
                <a:ext cx="11717153" cy="0"/>
              </a:xfrm>
              <a:prstGeom prst="line">
                <a:avLst/>
              </a:prstGeom>
              <a:ln w="28575">
                <a:solidFill>
                  <a:srgbClr val="B3B3B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직사각형 12"/>
              <p:cNvSpPr/>
              <p:nvPr/>
            </p:nvSpPr>
            <p:spPr>
              <a:xfrm>
                <a:off x="772015" y="760262"/>
                <a:ext cx="616060" cy="162840"/>
              </a:xfrm>
              <a:prstGeom prst="rect">
                <a:avLst/>
              </a:prstGeom>
              <a:solidFill>
                <a:srgbClr val="DF32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55955" y="760262"/>
                <a:ext cx="616060" cy="162840"/>
              </a:xfrm>
              <a:prstGeom prst="rect">
                <a:avLst/>
              </a:prstGeom>
              <a:solidFill>
                <a:srgbClr val="B0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55955" y="192171"/>
              <a:ext cx="9728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 smtClean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Data structure</a:t>
              </a:r>
              <a:endParaRPr lang="ko-KR" alt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310394" y="1122946"/>
            <a:ext cx="11585195" cy="559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format: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gdf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EEG.data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channels(40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⨯ 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timepoints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</a:p>
          <a:p>
            <a:pPr marL="1200150" lvl="2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1~32(EEG), 33~34(mastoids) 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Device: 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Biosemi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active two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Stimuli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.: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14~21.8Hz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0.5</a:t>
            </a:r>
            <a:r>
              <a:rPr lang="el-GR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phase diff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marker: 11~50 </a:t>
            </a:r>
            <a:endParaRPr lang="en-US" altLang="ko-K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Filter: bps(1-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45Hz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notch(59 – 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61Hz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Channel selection: 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O1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O2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Oz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Epoching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0~5 sec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788" y="903617"/>
            <a:ext cx="4129333" cy="259342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920" y="3497040"/>
            <a:ext cx="3973067" cy="322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38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/>
          <p:nvPr/>
        </p:nvGrpSpPr>
        <p:grpSpPr>
          <a:xfrm>
            <a:off x="155955" y="192171"/>
            <a:ext cx="11726297" cy="730931"/>
            <a:chOff x="155955" y="192171"/>
            <a:chExt cx="11726297" cy="730931"/>
          </a:xfrm>
        </p:grpSpPr>
        <p:grpSp>
          <p:nvGrpSpPr>
            <p:cNvPr id="8" name="Group 2"/>
            <p:cNvGrpSpPr/>
            <p:nvPr/>
          </p:nvGrpSpPr>
          <p:grpSpPr>
            <a:xfrm>
              <a:off x="155955" y="760262"/>
              <a:ext cx="11726297" cy="162840"/>
              <a:chOff x="155955" y="760262"/>
              <a:chExt cx="11726297" cy="1628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5099" y="831939"/>
                <a:ext cx="11717153" cy="0"/>
              </a:xfrm>
              <a:prstGeom prst="line">
                <a:avLst/>
              </a:prstGeom>
              <a:ln w="28575">
                <a:solidFill>
                  <a:srgbClr val="B3B3B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직사각형 12"/>
              <p:cNvSpPr/>
              <p:nvPr/>
            </p:nvSpPr>
            <p:spPr>
              <a:xfrm>
                <a:off x="772015" y="760262"/>
                <a:ext cx="616060" cy="162840"/>
              </a:xfrm>
              <a:prstGeom prst="rect">
                <a:avLst/>
              </a:prstGeom>
              <a:solidFill>
                <a:srgbClr val="DF32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55955" y="760262"/>
                <a:ext cx="616060" cy="162840"/>
              </a:xfrm>
              <a:prstGeom prst="rect">
                <a:avLst/>
              </a:prstGeom>
              <a:solidFill>
                <a:srgbClr val="B0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55955" y="192171"/>
              <a:ext cx="9728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 err="1" smtClean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Preproc</a:t>
              </a:r>
              <a:r>
                <a:rPr lang="en-US" altLang="ko-KR" sz="2800" b="1" dirty="0" smtClean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.</a:t>
              </a:r>
              <a:endParaRPr lang="ko-KR" alt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310394" y="1122946"/>
            <a:ext cx="11585195" cy="559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 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format: 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gdf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pop_biosig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 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 pass filter: 1-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45Hz</a:t>
            </a:r>
            <a:endParaRPr lang="en-US" altLang="ko-K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 stop filter: 59-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61Hz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(notch filter)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spectopo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requecny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domain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eegplot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time domain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94" y="4137957"/>
            <a:ext cx="6427009" cy="233547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/>
          <a:srcRect l="3060" r="24941"/>
          <a:stretch/>
        </p:blipFill>
        <p:spPr>
          <a:xfrm>
            <a:off x="7182937" y="1031784"/>
            <a:ext cx="3804376" cy="257897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2937" y="3730995"/>
            <a:ext cx="4268786" cy="26538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25177" y="4242009"/>
            <a:ext cx="1709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 smtClean="0">
                <a:solidFill>
                  <a:schemeClr val="accent1"/>
                </a:solidFill>
              </a:rPr>
              <a:t>freq_band</a:t>
            </a:r>
            <a:r>
              <a:rPr lang="en-US" altLang="ko-KR" sz="1000" dirty="0" smtClean="0">
                <a:solidFill>
                  <a:schemeClr val="accent1"/>
                </a:solidFill>
              </a:rPr>
              <a:t>: [1 45]</a:t>
            </a:r>
          </a:p>
          <a:p>
            <a:r>
              <a:rPr lang="en-US" altLang="ko-KR" sz="1000" dirty="0" err="1" smtClean="0">
                <a:solidFill>
                  <a:schemeClr val="accent1"/>
                </a:solidFill>
              </a:rPr>
              <a:t>freq_stop</a:t>
            </a:r>
            <a:r>
              <a:rPr lang="en-US" altLang="ko-KR" sz="1000" dirty="0" smtClean="0">
                <a:solidFill>
                  <a:schemeClr val="accent1"/>
                </a:solidFill>
              </a:rPr>
              <a:t>: [59 61]</a:t>
            </a:r>
            <a:endParaRPr lang="ko-KR" altLang="en-US" sz="1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106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/>
          <p:nvPr/>
        </p:nvGrpSpPr>
        <p:grpSpPr>
          <a:xfrm>
            <a:off x="155955" y="192171"/>
            <a:ext cx="11726297" cy="730931"/>
            <a:chOff x="155955" y="192171"/>
            <a:chExt cx="11726297" cy="730931"/>
          </a:xfrm>
        </p:grpSpPr>
        <p:grpSp>
          <p:nvGrpSpPr>
            <p:cNvPr id="8" name="Group 2"/>
            <p:cNvGrpSpPr/>
            <p:nvPr/>
          </p:nvGrpSpPr>
          <p:grpSpPr>
            <a:xfrm>
              <a:off x="155955" y="760262"/>
              <a:ext cx="11726297" cy="162840"/>
              <a:chOff x="155955" y="760262"/>
              <a:chExt cx="11726297" cy="1628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5099" y="831939"/>
                <a:ext cx="11717153" cy="0"/>
              </a:xfrm>
              <a:prstGeom prst="line">
                <a:avLst/>
              </a:prstGeom>
              <a:ln w="28575">
                <a:solidFill>
                  <a:srgbClr val="B3B3B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직사각형 12"/>
              <p:cNvSpPr/>
              <p:nvPr/>
            </p:nvSpPr>
            <p:spPr>
              <a:xfrm>
                <a:off x="772015" y="760262"/>
                <a:ext cx="616060" cy="162840"/>
              </a:xfrm>
              <a:prstGeom prst="rect">
                <a:avLst/>
              </a:prstGeom>
              <a:solidFill>
                <a:srgbClr val="DF32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55955" y="760262"/>
                <a:ext cx="616060" cy="162840"/>
              </a:xfrm>
              <a:prstGeom prst="rect">
                <a:avLst/>
              </a:prstGeom>
              <a:solidFill>
                <a:srgbClr val="B0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55955" y="192171"/>
              <a:ext cx="9728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 err="1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Preproc</a:t>
              </a:r>
              <a:endParaRPr lang="ko-KR" alt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297057" y="1087120"/>
            <a:ext cx="11585195" cy="559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462794" y="1275346"/>
            <a:ext cx="11585195" cy="559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Epoching</a:t>
            </a: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marker: 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11~50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Epoching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0~5 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034" y="913117"/>
            <a:ext cx="5373278" cy="29324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82526" y="715391"/>
            <a:ext cx="1602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</a:rPr>
              <a:t>Marker: 27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7141186" y="3374238"/>
            <a:ext cx="396868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52529" y="3408902"/>
            <a:ext cx="266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sec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195613" y="4281498"/>
            <a:ext cx="2460396" cy="1319752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8927177" y="4470035"/>
            <a:ext cx="2460396" cy="1319752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8658741" y="4658572"/>
            <a:ext cx="2460396" cy="1319752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8390305" y="4847109"/>
            <a:ext cx="2460396" cy="1319752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8390305" y="6373460"/>
            <a:ext cx="258249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95613" y="6389767"/>
            <a:ext cx="815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sec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 flipV="1">
            <a:off x="8149469" y="4847109"/>
            <a:ext cx="0" cy="13197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 rot="19100829">
            <a:off x="8181855" y="4116845"/>
            <a:ext cx="815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Epoch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직선 화살표 연결선 28"/>
          <p:cNvCxnSpPr/>
          <p:nvPr/>
        </p:nvCxnSpPr>
        <p:spPr>
          <a:xfrm flipV="1">
            <a:off x="8324761" y="4145578"/>
            <a:ext cx="752346" cy="63856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 rot="16200000">
            <a:off x="7604492" y="5421865"/>
            <a:ext cx="815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4"/>
          <a:srcRect l="575"/>
          <a:stretch/>
        </p:blipFill>
        <p:spPr>
          <a:xfrm>
            <a:off x="165099" y="2445055"/>
            <a:ext cx="4006686" cy="2087036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143" y="4623253"/>
            <a:ext cx="6734175" cy="2133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404527" y="5509362"/>
            <a:ext cx="1709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 smtClean="0">
                <a:solidFill>
                  <a:schemeClr val="accent1"/>
                </a:solidFill>
              </a:rPr>
              <a:t>window_size</a:t>
            </a:r>
            <a:r>
              <a:rPr lang="en-US" altLang="ko-KR" sz="1000" dirty="0" smtClean="0">
                <a:solidFill>
                  <a:schemeClr val="accent1"/>
                </a:solidFill>
              </a:rPr>
              <a:t>: [</a:t>
            </a:r>
            <a:r>
              <a:rPr lang="en-US" altLang="ko-KR" sz="1000" dirty="0">
                <a:solidFill>
                  <a:schemeClr val="accent1"/>
                </a:solidFill>
              </a:rPr>
              <a:t>0</a:t>
            </a:r>
            <a:r>
              <a:rPr lang="en-US" altLang="ko-KR" sz="1000" dirty="0" smtClean="0">
                <a:solidFill>
                  <a:schemeClr val="accent1"/>
                </a:solidFill>
              </a:rPr>
              <a:t> 5]</a:t>
            </a:r>
          </a:p>
        </p:txBody>
      </p:sp>
      <p:sp>
        <p:nvSpPr>
          <p:cNvPr id="36" name="오른쪽 화살표 35"/>
          <p:cNvSpPr/>
          <p:nvPr/>
        </p:nvSpPr>
        <p:spPr>
          <a:xfrm>
            <a:off x="2013322" y="3962237"/>
            <a:ext cx="896471" cy="217610"/>
          </a:xfrm>
          <a:prstGeom prst="rightArrow">
            <a:avLst>
              <a:gd name="adj1" fmla="val 50000"/>
              <a:gd name="adj2" fmla="val 664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오른쪽 화살표 36"/>
          <p:cNvSpPr/>
          <p:nvPr/>
        </p:nvSpPr>
        <p:spPr>
          <a:xfrm>
            <a:off x="2245628" y="4145578"/>
            <a:ext cx="896471" cy="217610"/>
          </a:xfrm>
          <a:prstGeom prst="rightArrow">
            <a:avLst>
              <a:gd name="adj1" fmla="val 50000"/>
              <a:gd name="adj2" fmla="val 7883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2937746" y="3853564"/>
            <a:ext cx="1709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solidFill>
                  <a:schemeClr val="accent1"/>
                </a:solidFill>
              </a:rPr>
              <a:t>Event marker: 11:50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30295" y="4126332"/>
            <a:ext cx="1709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solidFill>
                  <a:schemeClr val="accent6"/>
                </a:solidFill>
              </a:rPr>
              <a:t>Event </a:t>
            </a:r>
            <a:r>
              <a:rPr lang="en-US" altLang="ko-KR" sz="1000" dirty="0" err="1" smtClean="0">
                <a:solidFill>
                  <a:schemeClr val="accent6"/>
                </a:solidFill>
              </a:rPr>
              <a:t>timestemp</a:t>
            </a:r>
            <a:endParaRPr lang="en-US" altLang="ko-KR" sz="1000" dirty="0" smtClean="0">
              <a:solidFill>
                <a:schemeClr val="accent6"/>
              </a:solidFill>
            </a:endParaRPr>
          </a:p>
        </p:txBody>
      </p:sp>
      <p:cxnSp>
        <p:nvCxnSpPr>
          <p:cNvPr id="41" name="직선 연결선 40"/>
          <p:cNvCxnSpPr/>
          <p:nvPr/>
        </p:nvCxnSpPr>
        <p:spPr>
          <a:xfrm>
            <a:off x="696601" y="6166861"/>
            <a:ext cx="213777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9520" y="6186976"/>
            <a:ext cx="2783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ch</a:t>
            </a:r>
            <a:r>
              <a:rPr lang="en-US" altLang="ko-KR" sz="14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⨯ time ⨯ class ⨯ trial</a:t>
            </a:r>
            <a:endParaRPr lang="ko-KR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46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/>
          <p:nvPr/>
        </p:nvGrpSpPr>
        <p:grpSpPr>
          <a:xfrm>
            <a:off x="155955" y="192171"/>
            <a:ext cx="11726297" cy="730931"/>
            <a:chOff x="155955" y="192171"/>
            <a:chExt cx="11726297" cy="730931"/>
          </a:xfrm>
        </p:grpSpPr>
        <p:grpSp>
          <p:nvGrpSpPr>
            <p:cNvPr id="8" name="Group 2"/>
            <p:cNvGrpSpPr/>
            <p:nvPr/>
          </p:nvGrpSpPr>
          <p:grpSpPr>
            <a:xfrm>
              <a:off x="155955" y="760262"/>
              <a:ext cx="11726297" cy="162840"/>
              <a:chOff x="155955" y="760262"/>
              <a:chExt cx="11726297" cy="1628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5099" y="831939"/>
                <a:ext cx="11717153" cy="0"/>
              </a:xfrm>
              <a:prstGeom prst="line">
                <a:avLst/>
              </a:prstGeom>
              <a:ln w="28575">
                <a:solidFill>
                  <a:srgbClr val="B3B3B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직사각형 12"/>
              <p:cNvSpPr/>
              <p:nvPr/>
            </p:nvSpPr>
            <p:spPr>
              <a:xfrm>
                <a:off x="772015" y="760262"/>
                <a:ext cx="616060" cy="162840"/>
              </a:xfrm>
              <a:prstGeom prst="rect">
                <a:avLst/>
              </a:prstGeom>
              <a:solidFill>
                <a:srgbClr val="DF32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55955" y="760262"/>
                <a:ext cx="616060" cy="162840"/>
              </a:xfrm>
              <a:prstGeom prst="rect">
                <a:avLst/>
              </a:prstGeom>
              <a:solidFill>
                <a:srgbClr val="B0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55955" y="192171"/>
              <a:ext cx="9728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 smtClean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Fourier </a:t>
              </a:r>
              <a:r>
                <a:rPr lang="en-US" altLang="ko-KR" sz="2800" b="1" dirty="0" err="1" smtClean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trasnform</a:t>
              </a:r>
              <a:endParaRPr lang="ko-KR" alt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310394" y="1122946"/>
            <a:ext cx="11585195" cy="559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462795" y="1275347"/>
            <a:ext cx="11565808" cy="5285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FFT  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ko-KR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268" y="935642"/>
            <a:ext cx="4697335" cy="320124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102" y="4324189"/>
            <a:ext cx="4528501" cy="1880529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9104284" y="2960015"/>
            <a:ext cx="424207" cy="58446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380" y="1987547"/>
            <a:ext cx="2771480" cy="2253818"/>
          </a:xfrm>
          <a:prstGeom prst="rect">
            <a:avLst/>
          </a:prstGeom>
        </p:spPr>
      </p:pic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979034"/>
              </p:ext>
            </p:extLst>
          </p:nvPr>
        </p:nvGraphicFramePr>
        <p:xfrm>
          <a:off x="3277276" y="1038499"/>
          <a:ext cx="3479302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896">
                  <a:extLst>
                    <a:ext uri="{9D8B030D-6E8A-4147-A177-3AD203B41FA5}">
                      <a16:colId xmlns:a16="http://schemas.microsoft.com/office/drawing/2014/main" val="2155750976"/>
                    </a:ext>
                  </a:extLst>
                </a:gridCol>
                <a:gridCol w="1255105">
                  <a:extLst>
                    <a:ext uri="{9D8B030D-6E8A-4147-A177-3AD203B41FA5}">
                      <a16:colId xmlns:a16="http://schemas.microsoft.com/office/drawing/2014/main" val="347525299"/>
                    </a:ext>
                  </a:extLst>
                </a:gridCol>
                <a:gridCol w="1442301">
                  <a:extLst>
                    <a:ext uri="{9D8B030D-6E8A-4147-A177-3AD203B41FA5}">
                      <a16:colId xmlns:a16="http://schemas.microsoft.com/office/drawing/2014/main" val="4025400234"/>
                    </a:ext>
                  </a:extLst>
                </a:gridCol>
              </a:tblGrid>
              <a:tr h="1904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sampling rate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1024Hz</a:t>
                      </a:r>
                      <a:endParaRPr lang="ko-KR" altLang="en-US" sz="1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500049"/>
                  </a:ext>
                </a:extLst>
              </a:tr>
              <a:tr h="1904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Timepoint</a:t>
                      </a:r>
                      <a:r>
                        <a:rPr lang="en-US" altLang="ko-KR" sz="1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bin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1/1024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069024"/>
                  </a:ext>
                </a:extLst>
              </a:tr>
              <a:tr h="1904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Singal</a:t>
                      </a:r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length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Epoch size (</a:t>
                      </a:r>
                      <a:r>
                        <a:rPr lang="en-US" altLang="ko-KR" sz="1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5sec</a:t>
                      </a:r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altLang="ko-KR" sz="1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srate</a:t>
                      </a:r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715789"/>
                  </a:ext>
                </a:extLst>
              </a:tr>
              <a:tr h="1904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timepoints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Vector(</a:t>
                      </a:r>
                      <a:r>
                        <a:rPr lang="en-US" altLang="ko-KR" sz="1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0~5sec</a:t>
                      </a:r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437050"/>
                  </a:ext>
                </a:extLst>
              </a:tr>
              <a:tr h="1904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Freq. point</a:t>
                      </a:r>
                      <a:r>
                        <a:rPr lang="en-US" altLang="ko-KR" sz="1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bin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Vector(</a:t>
                      </a:r>
                      <a:r>
                        <a:rPr lang="en-US" altLang="ko-KR" sz="1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0~512Hz</a:t>
                      </a:r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73827"/>
                  </a:ext>
                </a:extLst>
              </a:tr>
            </a:tbl>
          </a:graphicData>
        </a:graphic>
      </p:graphicFrame>
      <p:pic>
        <p:nvPicPr>
          <p:cNvPr id="15" name="그림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380" y="4450908"/>
            <a:ext cx="4054028" cy="2297283"/>
          </a:xfrm>
          <a:prstGeom prst="rect">
            <a:avLst/>
          </a:prstGeom>
        </p:spPr>
      </p:pic>
      <p:cxnSp>
        <p:nvCxnSpPr>
          <p:cNvPr id="19" name="직선 화살표 연결선 18"/>
          <p:cNvCxnSpPr/>
          <p:nvPr/>
        </p:nvCxnSpPr>
        <p:spPr>
          <a:xfrm>
            <a:off x="368526" y="3252247"/>
            <a:ext cx="248606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03672" y="3098358"/>
            <a:ext cx="28012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Column vector </a:t>
            </a:r>
            <a:endParaRPr lang="ko-KR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368525" y="3404648"/>
            <a:ext cx="1422568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9900" y="3282100"/>
            <a:ext cx="1157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Dividing L</a:t>
            </a:r>
            <a:endParaRPr lang="ko-KR" altLang="en-US" sz="1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548" y="2370132"/>
            <a:ext cx="1771650" cy="1352550"/>
          </a:xfrm>
          <a:prstGeom prst="rect">
            <a:avLst/>
          </a:prstGeom>
        </p:spPr>
      </p:pic>
      <p:cxnSp>
        <p:nvCxnSpPr>
          <p:cNvPr id="26" name="직선 화살표 연결선 25"/>
          <p:cNvCxnSpPr/>
          <p:nvPr/>
        </p:nvCxnSpPr>
        <p:spPr>
          <a:xfrm>
            <a:off x="4489729" y="6712945"/>
            <a:ext cx="4031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V="1">
            <a:off x="4489729" y="6261859"/>
            <a:ext cx="0" cy="451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489729" y="6669456"/>
            <a:ext cx="5534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 rot="16200000">
            <a:off x="3636734" y="5958545"/>
            <a:ext cx="13778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magnitude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368525" y="3589877"/>
            <a:ext cx="2846015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117444" y="3619730"/>
            <a:ext cx="2775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 to single sided spectrum </a:t>
            </a: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3" t="6547"/>
          <a:stretch/>
        </p:blipFill>
        <p:spPr>
          <a:xfrm>
            <a:off x="4974327" y="4005451"/>
            <a:ext cx="1895710" cy="1215265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2" t="6732"/>
          <a:stretch/>
        </p:blipFill>
        <p:spPr>
          <a:xfrm>
            <a:off x="4969790" y="5445582"/>
            <a:ext cx="1895710" cy="120994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942811" y="3697141"/>
            <a:ext cx="19859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 sided spectrum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24684" y="5176718"/>
            <a:ext cx="19859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sided spectrum </a:t>
            </a:r>
          </a:p>
        </p:txBody>
      </p:sp>
    </p:spTree>
    <p:extLst>
      <p:ext uri="{BB962C8B-B14F-4D97-AF65-F5344CB8AC3E}">
        <p14:creationId xmlns:p14="http://schemas.microsoft.com/office/powerpoint/2010/main" val="260046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3"/>
          <a:srcRect r="6303" b="16493"/>
          <a:stretch/>
        </p:blipFill>
        <p:spPr>
          <a:xfrm>
            <a:off x="7118952" y="1560092"/>
            <a:ext cx="4923922" cy="2771422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151" y="2286381"/>
            <a:ext cx="4634800" cy="4503699"/>
          </a:xfrm>
          <a:prstGeom prst="rect">
            <a:avLst/>
          </a:prstGeom>
        </p:spPr>
      </p:pic>
      <p:grpSp>
        <p:nvGrpSpPr>
          <p:cNvPr id="6" name="Group 9"/>
          <p:cNvGrpSpPr/>
          <p:nvPr/>
        </p:nvGrpSpPr>
        <p:grpSpPr>
          <a:xfrm>
            <a:off x="155955" y="192171"/>
            <a:ext cx="11726297" cy="730931"/>
            <a:chOff x="155955" y="192171"/>
            <a:chExt cx="11726297" cy="730931"/>
          </a:xfrm>
        </p:grpSpPr>
        <p:grpSp>
          <p:nvGrpSpPr>
            <p:cNvPr id="8" name="Group 2"/>
            <p:cNvGrpSpPr/>
            <p:nvPr/>
          </p:nvGrpSpPr>
          <p:grpSpPr>
            <a:xfrm>
              <a:off x="155955" y="760262"/>
              <a:ext cx="11726297" cy="162840"/>
              <a:chOff x="155955" y="760262"/>
              <a:chExt cx="11726297" cy="1628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5099" y="831939"/>
                <a:ext cx="11717153" cy="0"/>
              </a:xfrm>
              <a:prstGeom prst="line">
                <a:avLst/>
              </a:prstGeom>
              <a:ln w="28575">
                <a:solidFill>
                  <a:srgbClr val="B3B3B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직사각형 12"/>
              <p:cNvSpPr/>
              <p:nvPr/>
            </p:nvSpPr>
            <p:spPr>
              <a:xfrm>
                <a:off x="772015" y="760262"/>
                <a:ext cx="616060" cy="162840"/>
              </a:xfrm>
              <a:prstGeom prst="rect">
                <a:avLst/>
              </a:prstGeom>
              <a:solidFill>
                <a:srgbClr val="DF32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55955" y="760262"/>
                <a:ext cx="616060" cy="162840"/>
              </a:xfrm>
              <a:prstGeom prst="rect">
                <a:avLst/>
              </a:prstGeom>
              <a:solidFill>
                <a:srgbClr val="B0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55955" y="192171"/>
              <a:ext cx="9728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Fourier </a:t>
              </a:r>
              <a:r>
                <a:rPr lang="en-US" altLang="ko-KR" sz="2800" b="1" dirty="0" err="1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trasnform</a:t>
              </a:r>
              <a:endParaRPr lang="ko-KR" alt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310394" y="1122946"/>
            <a:ext cx="11585195" cy="559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462795" y="1275347"/>
            <a:ext cx="11565808" cy="5285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Padding  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sec of time series → 1/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3Hz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freq. bin 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resolution  ← increase length of time series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168" y="79159"/>
            <a:ext cx="2235228" cy="150556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5219" y="4698349"/>
            <a:ext cx="4953384" cy="218028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075219" y="4673722"/>
            <a:ext cx="4953384" cy="22049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7172247" y="1592928"/>
            <a:ext cx="1641815" cy="27385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315510" y="4900956"/>
            <a:ext cx="2715610" cy="94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02991" y="4698349"/>
            <a:ext cx="1121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ep_data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06716" y="1190760"/>
            <a:ext cx="1975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ep_data_padding</a:t>
            </a:r>
            <a:endParaRPr lang="ko-KR" altLang="en-US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7112926" y="1550390"/>
            <a:ext cx="4915677" cy="2813959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/>
          <p:cNvCxnSpPr/>
          <p:nvPr/>
        </p:nvCxnSpPr>
        <p:spPr>
          <a:xfrm>
            <a:off x="299151" y="4439515"/>
            <a:ext cx="1337725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1388075" y="3053495"/>
            <a:ext cx="87077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042363" y="4673722"/>
            <a:ext cx="23865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5*</a:t>
            </a:r>
            <a:r>
              <a:rPr lang="en-US" altLang="ko-KR" sz="15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srate</a:t>
            </a:r>
            <a:r>
              <a:rPr lang="en-US" altLang="ko-KR" sz="1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ko-KR" sz="1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500" b="1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15*</a:t>
            </a:r>
            <a:r>
              <a:rPr lang="en-US" altLang="ko-KR" sz="1500" b="1" dirty="0" err="1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srate</a:t>
            </a:r>
            <a:endParaRPr lang="ko-KR" altLang="en-US" sz="15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직선 연결선 35"/>
          <p:cNvCxnSpPr/>
          <p:nvPr/>
        </p:nvCxnSpPr>
        <p:spPr>
          <a:xfrm>
            <a:off x="968013" y="5958521"/>
            <a:ext cx="30460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1080045" y="6128484"/>
            <a:ext cx="19257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V="1">
            <a:off x="7075219" y="4331514"/>
            <a:ext cx="97028" cy="34220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8814062" y="4331514"/>
            <a:ext cx="3214541" cy="34220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14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/>
          <p:nvPr/>
        </p:nvGrpSpPr>
        <p:grpSpPr>
          <a:xfrm>
            <a:off x="155955" y="192171"/>
            <a:ext cx="11726297" cy="730931"/>
            <a:chOff x="155955" y="192171"/>
            <a:chExt cx="11726297" cy="730931"/>
          </a:xfrm>
        </p:grpSpPr>
        <p:grpSp>
          <p:nvGrpSpPr>
            <p:cNvPr id="8" name="Group 2"/>
            <p:cNvGrpSpPr/>
            <p:nvPr/>
          </p:nvGrpSpPr>
          <p:grpSpPr>
            <a:xfrm>
              <a:off x="155955" y="760262"/>
              <a:ext cx="11726297" cy="162840"/>
              <a:chOff x="155955" y="760262"/>
              <a:chExt cx="11726297" cy="1628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5099" y="831939"/>
                <a:ext cx="11717153" cy="0"/>
              </a:xfrm>
              <a:prstGeom prst="line">
                <a:avLst/>
              </a:prstGeom>
              <a:ln w="28575">
                <a:solidFill>
                  <a:srgbClr val="B3B3B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직사각형 12"/>
              <p:cNvSpPr/>
              <p:nvPr/>
            </p:nvSpPr>
            <p:spPr>
              <a:xfrm>
                <a:off x="772015" y="760262"/>
                <a:ext cx="616060" cy="162840"/>
              </a:xfrm>
              <a:prstGeom prst="rect">
                <a:avLst/>
              </a:prstGeom>
              <a:solidFill>
                <a:srgbClr val="DF32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55955" y="760262"/>
                <a:ext cx="616060" cy="162840"/>
              </a:xfrm>
              <a:prstGeom prst="rect">
                <a:avLst/>
              </a:prstGeom>
              <a:solidFill>
                <a:srgbClr val="B0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55955" y="192171"/>
              <a:ext cx="9728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Fourier </a:t>
              </a:r>
              <a:r>
                <a:rPr lang="en-US" altLang="ko-KR" sz="2800" b="1" dirty="0" err="1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trasnform</a:t>
              </a:r>
              <a:endParaRPr lang="ko-KR" alt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310394" y="1122946"/>
            <a:ext cx="11585195" cy="559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462795" y="1275347"/>
            <a:ext cx="11565808" cy="5285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Padding  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sec of time series → 1/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3Hz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freq. bin 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resolution  ← increase length of time series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15" y="2258849"/>
            <a:ext cx="7705235" cy="42562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155" y="4017629"/>
            <a:ext cx="925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endParaRPr lang="ko-KR" alt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155" y="2638201"/>
            <a:ext cx="1975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</a:t>
            </a:r>
            <a:endParaRPr lang="ko-KR" altLang="en-US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1075" y="1605053"/>
            <a:ext cx="2550688" cy="503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6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/>
          <p:nvPr/>
        </p:nvGrpSpPr>
        <p:grpSpPr>
          <a:xfrm>
            <a:off x="146430" y="192171"/>
            <a:ext cx="11735822" cy="730931"/>
            <a:chOff x="146430" y="192171"/>
            <a:chExt cx="11735822" cy="730931"/>
          </a:xfrm>
        </p:grpSpPr>
        <p:grpSp>
          <p:nvGrpSpPr>
            <p:cNvPr id="8" name="Group 2"/>
            <p:cNvGrpSpPr/>
            <p:nvPr/>
          </p:nvGrpSpPr>
          <p:grpSpPr>
            <a:xfrm>
              <a:off x="155955" y="760262"/>
              <a:ext cx="11726297" cy="162840"/>
              <a:chOff x="155955" y="760262"/>
              <a:chExt cx="11726297" cy="1628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5099" y="831939"/>
                <a:ext cx="11717153" cy="0"/>
              </a:xfrm>
              <a:prstGeom prst="line">
                <a:avLst/>
              </a:prstGeom>
              <a:ln w="28575">
                <a:solidFill>
                  <a:srgbClr val="B3B3B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직사각형 12"/>
              <p:cNvSpPr/>
              <p:nvPr/>
            </p:nvSpPr>
            <p:spPr>
              <a:xfrm>
                <a:off x="772015" y="760262"/>
                <a:ext cx="616060" cy="162840"/>
              </a:xfrm>
              <a:prstGeom prst="rect">
                <a:avLst/>
              </a:prstGeom>
              <a:solidFill>
                <a:srgbClr val="DF32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55955" y="760262"/>
                <a:ext cx="616060" cy="162840"/>
              </a:xfrm>
              <a:prstGeom prst="rect">
                <a:avLst/>
              </a:prstGeom>
              <a:solidFill>
                <a:srgbClr val="B0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46430" y="192171"/>
              <a:ext cx="9728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 smtClean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Canonical correlation analysis</a:t>
              </a:r>
              <a:endParaRPr lang="ko-KR" altLang="en-US" sz="2800" b="1" dirty="0">
                <a:latin typeface="Verdana" panose="020B0604030504040204" pitchFamily="34" charset="0"/>
                <a:ea typeface="210 맨발의청춘 R" panose="0202060302010102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pPr/>
              <a:t>9</a:t>
            </a:fld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1499" y="1282593"/>
            <a:ext cx="1124557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 latinLnBrk="1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for SSVEP recognition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latinLnBrk="1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Canonical correlation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analysis(CCA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00150" lvl="2" indent="-285750" defTabSz="914400" latinLnBrk="1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EEG signal and reference signal</a:t>
            </a:r>
          </a:p>
          <a:p>
            <a:pPr marL="1200150" lvl="2" indent="-285750" defTabSz="914400" latinLnBrk="1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highest correlation value between EEG signal and reference signal for each frequency</a:t>
            </a:r>
          </a:p>
          <a:p>
            <a:pPr marL="1200150" lvl="2" indent="-285750" defTabSz="914400" latinLnBrk="1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standard CCA method, sinusoidal wave was used to reference signal</a:t>
            </a:r>
          </a:p>
          <a:p>
            <a:endParaRPr lang="en-US" altLang="ko-KR" sz="2000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en-US" altLang="ko-KR" sz="2000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767" y="3366458"/>
            <a:ext cx="4934033" cy="262485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05444" y="6048573"/>
            <a:ext cx="4362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SSVEP recognition based CCA method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gregorygundersen.com/image/cca/cca_diagram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036" y="3555914"/>
            <a:ext cx="4523248" cy="286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5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/>
          <p:nvPr/>
        </p:nvGrpSpPr>
        <p:grpSpPr>
          <a:xfrm>
            <a:off x="155955" y="192171"/>
            <a:ext cx="11726297" cy="730931"/>
            <a:chOff x="155955" y="192171"/>
            <a:chExt cx="11726297" cy="730931"/>
          </a:xfrm>
        </p:grpSpPr>
        <p:grpSp>
          <p:nvGrpSpPr>
            <p:cNvPr id="8" name="Group 2"/>
            <p:cNvGrpSpPr/>
            <p:nvPr/>
          </p:nvGrpSpPr>
          <p:grpSpPr>
            <a:xfrm>
              <a:off x="155955" y="760262"/>
              <a:ext cx="11726297" cy="162840"/>
              <a:chOff x="155955" y="760262"/>
              <a:chExt cx="11726297" cy="1628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5099" y="831939"/>
                <a:ext cx="11717153" cy="0"/>
              </a:xfrm>
              <a:prstGeom prst="line">
                <a:avLst/>
              </a:prstGeom>
              <a:ln w="28575">
                <a:solidFill>
                  <a:srgbClr val="B3B3B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직사각형 12"/>
              <p:cNvSpPr/>
              <p:nvPr/>
            </p:nvSpPr>
            <p:spPr>
              <a:xfrm>
                <a:off x="772015" y="760262"/>
                <a:ext cx="616060" cy="162840"/>
              </a:xfrm>
              <a:prstGeom prst="rect">
                <a:avLst/>
              </a:prstGeom>
              <a:solidFill>
                <a:srgbClr val="DF32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55955" y="760262"/>
                <a:ext cx="616060" cy="162840"/>
              </a:xfrm>
              <a:prstGeom prst="rect">
                <a:avLst/>
              </a:prstGeom>
              <a:solidFill>
                <a:srgbClr val="B0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55955" y="192171"/>
              <a:ext cx="9728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Canonical correlation analysis</a:t>
              </a:r>
              <a:endParaRPr lang="ko-KR" altLang="en-US" sz="2800" b="1" dirty="0">
                <a:latin typeface="Verdana" panose="020B0604030504040204" pitchFamily="34" charset="0"/>
                <a:ea typeface="210 맨발의청춘 R" panose="0202060302010102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310394" y="1122946"/>
            <a:ext cx="11585195" cy="559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462795" y="1275347"/>
            <a:ext cx="11565808" cy="5285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signal 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098" y="1745782"/>
            <a:ext cx="7631755" cy="4748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015701" y="2035614"/>
                <a:ext cx="1173272" cy="404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⁡(2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01" y="2035614"/>
                <a:ext cx="1173272" cy="404213"/>
              </a:xfrm>
              <a:prstGeom prst="rect">
                <a:avLst/>
              </a:prstGeom>
              <a:blipFill>
                <a:blip r:embed="rId4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015701" y="2482094"/>
                <a:ext cx="1173272" cy="39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𝑜𝑠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⁡(2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01" y="2482094"/>
                <a:ext cx="1173272" cy="396006"/>
              </a:xfrm>
              <a:prstGeom prst="rect">
                <a:avLst/>
              </a:prstGeom>
              <a:blipFill>
                <a:blip r:embed="rId5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015701" y="3009374"/>
                <a:ext cx="1173272" cy="39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⁡(2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2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01" y="3009374"/>
                <a:ext cx="1173272" cy="396006"/>
              </a:xfrm>
              <a:prstGeom prst="rect">
                <a:avLst/>
              </a:prstGeom>
              <a:blipFill>
                <a:blip r:embed="rId6"/>
                <a:stretch>
                  <a:fillRect r="-521" b="-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1015701" y="3455854"/>
                <a:ext cx="1173272" cy="39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𝑜𝑠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⁡(2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2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01" y="3455854"/>
                <a:ext cx="1173272" cy="396006"/>
              </a:xfrm>
              <a:prstGeom prst="rect">
                <a:avLst/>
              </a:prstGeom>
              <a:blipFill>
                <a:blip r:embed="rId7"/>
                <a:stretch>
                  <a:fillRect r="-2604" b="-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1032974" y="4004261"/>
                <a:ext cx="1173272" cy="39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⁡(2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74" y="4004261"/>
                <a:ext cx="1173272" cy="396006"/>
              </a:xfrm>
              <a:prstGeom prst="rect">
                <a:avLst/>
              </a:prstGeom>
              <a:blipFill>
                <a:blip r:embed="rId8"/>
                <a:stretch>
                  <a:fillRect r="-518" b="-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1032974" y="4450741"/>
                <a:ext cx="1173272" cy="39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𝑜𝑠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⁡(2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74" y="4450741"/>
                <a:ext cx="1173272" cy="396006"/>
              </a:xfrm>
              <a:prstGeom prst="rect">
                <a:avLst/>
              </a:prstGeom>
              <a:blipFill>
                <a:blip r:embed="rId9"/>
                <a:stretch>
                  <a:fillRect r="-2591" b="-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1032974" y="5046591"/>
                <a:ext cx="1173272" cy="39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⁡(2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4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74" y="5046591"/>
                <a:ext cx="1173272" cy="396006"/>
              </a:xfrm>
              <a:prstGeom prst="rect">
                <a:avLst/>
              </a:prstGeom>
              <a:blipFill>
                <a:blip r:embed="rId10"/>
                <a:stretch>
                  <a:fillRect r="-518" b="-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1032974" y="5493071"/>
                <a:ext cx="1173272" cy="39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𝑜𝑠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⁡(2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4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74" y="5493071"/>
                <a:ext cx="1173272" cy="396006"/>
              </a:xfrm>
              <a:prstGeom prst="rect">
                <a:avLst/>
              </a:prstGeom>
              <a:blipFill>
                <a:blip r:embed="rId11"/>
                <a:stretch>
                  <a:fillRect r="-2591" b="-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85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/>
          <p:nvPr/>
        </p:nvGrpSpPr>
        <p:grpSpPr>
          <a:xfrm>
            <a:off x="155955" y="192171"/>
            <a:ext cx="11726297" cy="730931"/>
            <a:chOff x="155955" y="192171"/>
            <a:chExt cx="11726297" cy="730931"/>
          </a:xfrm>
        </p:grpSpPr>
        <p:grpSp>
          <p:nvGrpSpPr>
            <p:cNvPr id="8" name="Group 2"/>
            <p:cNvGrpSpPr/>
            <p:nvPr/>
          </p:nvGrpSpPr>
          <p:grpSpPr>
            <a:xfrm>
              <a:off x="155955" y="760262"/>
              <a:ext cx="11726297" cy="162840"/>
              <a:chOff x="155955" y="760262"/>
              <a:chExt cx="11726297" cy="1628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5099" y="831939"/>
                <a:ext cx="11717153" cy="0"/>
              </a:xfrm>
              <a:prstGeom prst="line">
                <a:avLst/>
              </a:prstGeom>
              <a:ln w="28575">
                <a:solidFill>
                  <a:srgbClr val="B3B3B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직사각형 12"/>
              <p:cNvSpPr/>
              <p:nvPr/>
            </p:nvSpPr>
            <p:spPr>
              <a:xfrm>
                <a:off x="772015" y="760262"/>
                <a:ext cx="616060" cy="162840"/>
              </a:xfrm>
              <a:prstGeom prst="rect">
                <a:avLst/>
              </a:prstGeom>
              <a:solidFill>
                <a:srgbClr val="DF32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55955" y="760262"/>
                <a:ext cx="616060" cy="162840"/>
              </a:xfrm>
              <a:prstGeom prst="rect">
                <a:avLst/>
              </a:prstGeom>
              <a:solidFill>
                <a:srgbClr val="B0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55955" y="192171"/>
              <a:ext cx="9728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Canonical correlation analysis</a:t>
              </a:r>
              <a:endParaRPr lang="ko-KR" altLang="en-US" sz="2800" b="1" dirty="0">
                <a:latin typeface="Verdana" panose="020B0604030504040204" pitchFamily="34" charset="0"/>
                <a:ea typeface="210 맨발의청춘 R" panose="0202060302010102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310394" y="1122946"/>
            <a:ext cx="11585195" cy="559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부제목 2">
                <a:extLst>
                  <a:ext uri="{FF2B5EF4-FFF2-40B4-BE49-F238E27FC236}">
                    <a16:creationId xmlns:a16="http://schemas.microsoft.com/office/drawing/2014/main" id="{E62BBE02-99FF-4492-023C-DF90A2ACDE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2795" y="1275347"/>
                <a:ext cx="11565808" cy="528571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Correlation Coefficient</a:t>
                </a:r>
              </a:p>
              <a:p>
                <a:pPr marL="742950" lvl="1" indent="-28575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Signal (X) </a:t>
                </a:r>
                <a:r>
                  <a:rPr lang="en-US" altLang="ko-KR" sz="1400" dirty="0" smtClean="0">
                    <a:latin typeface="HancomEQN" panose="02000000000000000000" pitchFamily="2" charset="-127"/>
                    <a:ea typeface="HancomEQN" panose="02000000000000000000" pitchFamily="2" charset="-127"/>
                    <a:cs typeface="Times New Roman" panose="02020603050405020304" pitchFamily="18" charset="0"/>
                  </a:rPr>
                  <a:t>Ref(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atin typeface="HancomEQN" panose="02000000000000000000" pitchFamily="2" charset="-127"/>
                    <a:ea typeface="HancomEQN" panose="02000000000000000000" pitchFamily="2" charset="-127"/>
                    <a:cs typeface="Times New Roman" panose="02020603050405020304" pitchFamily="18" charset="0"/>
                  </a:rPr>
                  <a:t>~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atin typeface="HancomEQN" panose="02000000000000000000" pitchFamily="2" charset="-127"/>
                    <a:ea typeface="HancomEQN" panose="02000000000000000000" pitchFamily="2" charset="-127"/>
                    <a:cs typeface="Times New Roman" panose="02020603050405020304" pitchFamily="18" charset="0"/>
                  </a:rPr>
                  <a:t>) →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atin typeface="HancomEQN" panose="02000000000000000000" pitchFamily="2" charset="-127"/>
                    <a:ea typeface="HancomEQN" panose="020000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atin typeface="HancomEQN" panose="02000000000000000000" pitchFamily="2" charset="-127"/>
                    <a:ea typeface="HancomEQN" panose="02000000000000000000" pitchFamily="2" charset="-127"/>
                    <a:cs typeface="Times New Roman" panose="02020603050405020304" pitchFamily="18" charset="0"/>
                  </a:rPr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atin typeface="HancomEQN" panose="02000000000000000000" pitchFamily="2" charset="-127"/>
                    <a:ea typeface="HancomEQN" panose="02000000000000000000" pitchFamily="2" charset="-127"/>
                    <a:cs typeface="Times New Roman" panose="02020603050405020304" pitchFamily="18" charset="0"/>
                  </a:rPr>
                  <a:t>]</a:t>
                </a:r>
              </a:p>
              <a:p>
                <a:pPr marL="742950" lvl="1" indent="-28575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400" dirty="0" err="1" smtClean="0">
                    <a:latin typeface="HancomEQN" panose="02000000000000000000" pitchFamily="2" charset="-127"/>
                    <a:ea typeface="HancomEQN" panose="02000000000000000000" pitchFamily="2" charset="-127"/>
                    <a:cs typeface="Times New Roman" panose="02020603050405020304" pitchFamily="18" charset="0"/>
                  </a:rPr>
                  <a:t>argmax</a:t>
                </a:r>
                <a:r>
                  <a:rPr lang="en-US" altLang="ko-KR" sz="1400" dirty="0" smtClean="0">
                    <a:latin typeface="HancomEQN" panose="02000000000000000000" pitchFamily="2" charset="-127"/>
                    <a:ea typeface="HancomEQN" panose="02000000000000000000" pitchFamily="2" charset="-127"/>
                    <a:cs typeface="Times New Roman" panose="02020603050405020304" pitchFamily="18" charset="0"/>
                  </a:rPr>
                  <a:t>([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HancomEQN" panose="02000000000000000000" pitchFamily="2" charset="-127"/>
                    <a:ea typeface="HancomEQN" panose="02000000000000000000" pitchFamily="2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HancomEQN" panose="02000000000000000000" pitchFamily="2" charset="-127"/>
                    <a:ea typeface="HancomEQN" panose="02000000000000000000" pitchFamily="2" charset="-127"/>
                    <a:cs typeface="Times New Roman" panose="02020603050405020304" pitchFamily="18" charset="0"/>
                  </a:rPr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atin typeface="HancomEQN" panose="02000000000000000000" pitchFamily="2" charset="-127"/>
                    <a:ea typeface="HancomEQN" panose="02000000000000000000" pitchFamily="2" charset="-127"/>
                    <a:cs typeface="Times New Roman" panose="02020603050405020304" pitchFamily="18" charset="0"/>
                  </a:rPr>
                  <a:t>])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HancomEQN" panose="02000000000000000000" pitchFamily="2" charset="-127"/>
                            <a:cs typeface="Times New Roman" panose="02020603050405020304" pitchFamily="18" charset="0"/>
                          </a:rPr>
                          <m:t>𝑝𝑟𝑒𝑑𝑖𝑐𝑡</m:t>
                        </m:r>
                      </m:sub>
                    </m:sSub>
                  </m:oMath>
                </a14:m>
                <a:endParaRPr lang="en-US" altLang="ko-KR" sz="1400" dirty="0">
                  <a:latin typeface="HancomEQN" panose="02000000000000000000" pitchFamily="2" charset="-127"/>
                  <a:ea typeface="HancomEQN" panose="02000000000000000000" pitchFamily="2" charset="-127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altLang="ko-K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부제목 2">
                <a:extLst>
                  <a:ext uri="{FF2B5EF4-FFF2-40B4-BE49-F238E27FC236}">
                    <a16:creationId xmlns:a16="http://schemas.microsoft.com/office/drawing/2014/main" id="{E62BBE02-99FF-4492-023C-DF90A2ACD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95" y="1275347"/>
                <a:ext cx="11565808" cy="5285710"/>
              </a:xfrm>
              <a:prstGeom prst="rect">
                <a:avLst/>
              </a:prstGeom>
              <a:blipFill>
                <a:blip r:embed="rId3"/>
                <a:stretch>
                  <a:fillRect l="-369" t="-5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32" y="948488"/>
            <a:ext cx="5138416" cy="273358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362" y="2658991"/>
            <a:ext cx="5106968" cy="348281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3675" y="3683537"/>
            <a:ext cx="3518064" cy="2797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81370" y="3819194"/>
            <a:ext cx="984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</a:t>
            </a:r>
            <a:r>
              <a:rPr lang="en-US" altLang="ko-KR" sz="1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endParaRPr lang="ko-KR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73700" y="6419755"/>
            <a:ext cx="1916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 of stimuli (1 to 40)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 rot="16200000">
                <a:off x="5535338" y="4844153"/>
                <a:ext cx="8897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1" i="1" smtClean="0">
                              <a:latin typeface="Cambria Math" panose="02040503050406030204" pitchFamily="18" charset="0"/>
                              <a:ea typeface="HancomEQN" panose="020000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1" i="1">
                              <a:latin typeface="Cambria Math" panose="02040503050406030204" pitchFamily="18" charset="0"/>
                              <a:ea typeface="HancomEQN" panose="02000000000000000000" pitchFamily="2" charset="-127"/>
                              <a:cs typeface="Times New Roman" panose="020206030504050203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  <a:ea typeface="HancomEQN" panose="02000000000000000000" pitchFamily="2" charset="-127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ko-KR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535338" y="4844153"/>
                <a:ext cx="889791" cy="307777"/>
              </a:xfrm>
              <a:prstGeom prst="rect">
                <a:avLst/>
              </a:prstGeom>
              <a:blipFill>
                <a:blip r:embed="rId7"/>
                <a:stretch>
                  <a:fillRect r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6245699" y="4084069"/>
                <a:ext cx="61434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b="1" i="1" smtClean="0">
                              <a:latin typeface="Cambria Math" panose="02040503050406030204" pitchFamily="18" charset="0"/>
                              <a:ea typeface="HancomEQN" panose="020000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000" b="1" i="1">
                              <a:latin typeface="Cambria Math" panose="02040503050406030204" pitchFamily="18" charset="0"/>
                              <a:ea typeface="HancomEQN" panose="02000000000000000000" pitchFamily="2" charset="-127"/>
                              <a:cs typeface="Times New Roman" panose="020206030504050203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altLang="ko-KR" sz="1000" b="1" i="1" smtClean="0">
                              <a:latin typeface="Cambria Math" panose="02040503050406030204" pitchFamily="18" charset="0"/>
                              <a:ea typeface="HancomEQN" panose="02000000000000000000" pitchFamily="2" charset="-127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ko-KR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699" y="4084069"/>
                <a:ext cx="614341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6245185" y="5057695"/>
                <a:ext cx="61434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b="1" i="1" smtClean="0">
                              <a:latin typeface="Cambria Math" panose="02040503050406030204" pitchFamily="18" charset="0"/>
                              <a:ea typeface="HancomEQN" panose="020000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000" b="1" i="1">
                              <a:latin typeface="Cambria Math" panose="02040503050406030204" pitchFamily="18" charset="0"/>
                              <a:ea typeface="HancomEQN" panose="02000000000000000000" pitchFamily="2" charset="-127"/>
                              <a:cs typeface="Times New Roman" panose="020206030504050203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altLang="ko-KR" sz="1000" b="1" i="1" smtClean="0">
                              <a:latin typeface="Cambria Math" panose="02040503050406030204" pitchFamily="18" charset="0"/>
                              <a:ea typeface="HancomEQN" panose="02000000000000000000" pitchFamily="2" charset="-127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ko-KR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185" y="5057695"/>
                <a:ext cx="614341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6419084" y="4343345"/>
                <a:ext cx="61434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b="1" i="1" smtClean="0">
                              <a:latin typeface="Cambria Math" panose="02040503050406030204" pitchFamily="18" charset="0"/>
                              <a:ea typeface="HancomEQN" panose="020000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000" b="1" i="1">
                              <a:latin typeface="Cambria Math" panose="02040503050406030204" pitchFamily="18" charset="0"/>
                              <a:ea typeface="HancomEQN" panose="02000000000000000000" pitchFamily="2" charset="-127"/>
                              <a:cs typeface="Times New Roman" panose="020206030504050203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altLang="ko-KR" sz="1000" b="1" i="1" smtClean="0">
                              <a:latin typeface="Cambria Math" panose="02040503050406030204" pitchFamily="18" charset="0"/>
                              <a:ea typeface="HancomEQN" panose="02000000000000000000" pitchFamily="2" charset="-127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ko-KR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084" y="4343345"/>
                <a:ext cx="614341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9255001" y="5196716"/>
                <a:ext cx="61434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b="1" i="1" smtClean="0">
                              <a:latin typeface="Cambria Math" panose="02040503050406030204" pitchFamily="18" charset="0"/>
                              <a:ea typeface="HancomEQN" panose="02000000000000000000" pitchFamily="2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ko-KR" altLang="en-US" sz="1000" b="1" i="1">
                              <a:latin typeface="Cambria Math" panose="02040503050406030204" pitchFamily="18" charset="0"/>
                              <a:ea typeface="HancomEQN" panose="02000000000000000000" pitchFamily="2" charset="-127"/>
                              <a:cs typeface="Times New Roman" panose="020206030504050203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altLang="ko-KR" sz="1000" b="1" i="1" smtClean="0">
                              <a:latin typeface="Cambria Math" panose="02040503050406030204" pitchFamily="18" charset="0"/>
                              <a:ea typeface="HancomEQN" panose="02000000000000000000" pitchFamily="2" charset="-127"/>
                              <a:cs typeface="Times New Roman" panose="02020603050405020304" pitchFamily="18" charset="0"/>
                            </a:rPr>
                            <m:t>𝟒𝟎</m:t>
                          </m:r>
                        </m:sub>
                      </m:sSub>
                    </m:oMath>
                  </m:oMathPara>
                </a14:m>
                <a:endParaRPr lang="ko-KR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001" y="5196716"/>
                <a:ext cx="614341" cy="2462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602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/>
          <p:nvPr/>
        </p:nvGrpSpPr>
        <p:grpSpPr>
          <a:xfrm>
            <a:off x="155955" y="192171"/>
            <a:ext cx="11726297" cy="730931"/>
            <a:chOff x="155955" y="192171"/>
            <a:chExt cx="11726297" cy="730931"/>
          </a:xfrm>
        </p:grpSpPr>
        <p:grpSp>
          <p:nvGrpSpPr>
            <p:cNvPr id="8" name="Group 2"/>
            <p:cNvGrpSpPr/>
            <p:nvPr/>
          </p:nvGrpSpPr>
          <p:grpSpPr>
            <a:xfrm>
              <a:off x="155955" y="760262"/>
              <a:ext cx="11726297" cy="162840"/>
              <a:chOff x="155955" y="760262"/>
              <a:chExt cx="11726297" cy="1628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5099" y="831939"/>
                <a:ext cx="11717153" cy="0"/>
              </a:xfrm>
              <a:prstGeom prst="line">
                <a:avLst/>
              </a:prstGeom>
              <a:ln w="28575">
                <a:solidFill>
                  <a:srgbClr val="B3B3B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직사각형 12"/>
              <p:cNvSpPr/>
              <p:nvPr/>
            </p:nvSpPr>
            <p:spPr>
              <a:xfrm>
                <a:off x="772015" y="760262"/>
                <a:ext cx="616060" cy="162840"/>
              </a:xfrm>
              <a:prstGeom prst="rect">
                <a:avLst/>
              </a:prstGeom>
              <a:solidFill>
                <a:srgbClr val="DF32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55955" y="760262"/>
                <a:ext cx="616060" cy="162840"/>
              </a:xfrm>
              <a:prstGeom prst="rect">
                <a:avLst/>
              </a:prstGeom>
              <a:solidFill>
                <a:srgbClr val="B0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55955" y="192171"/>
              <a:ext cx="9728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Canonical correlation analysis</a:t>
              </a:r>
              <a:endParaRPr lang="ko-KR" altLang="en-US" sz="2800" b="1" dirty="0">
                <a:latin typeface="Verdana" panose="020B0604030504040204" pitchFamily="34" charset="0"/>
                <a:ea typeface="210 맨발의청춘 R" panose="0202060302010102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310394" y="1122946"/>
            <a:ext cx="11585195" cy="559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462795" y="1275347"/>
            <a:ext cx="11565808" cy="5285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95" y="1210870"/>
            <a:ext cx="8027198" cy="535018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959" y="2525486"/>
            <a:ext cx="2965663" cy="2493219"/>
          </a:xfrm>
          <a:prstGeom prst="rect">
            <a:avLst/>
          </a:prstGeom>
        </p:spPr>
      </p:pic>
      <p:sp>
        <p:nvSpPr>
          <p:cNvPr id="5" name="아래로 구부러진 화살표 4"/>
          <p:cNvSpPr/>
          <p:nvPr/>
        </p:nvSpPr>
        <p:spPr>
          <a:xfrm rot="1926815">
            <a:off x="8565229" y="1122146"/>
            <a:ext cx="2148114" cy="901325"/>
          </a:xfrm>
          <a:prstGeom prst="curvedDownArrow">
            <a:avLst>
              <a:gd name="adj1" fmla="val 25000"/>
              <a:gd name="adj2" fmla="val 50000"/>
              <a:gd name="adj3" fmla="val 3388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843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/>
          <p:nvPr/>
        </p:nvGrpSpPr>
        <p:grpSpPr>
          <a:xfrm>
            <a:off x="155955" y="192171"/>
            <a:ext cx="11726297" cy="730931"/>
            <a:chOff x="155955" y="192171"/>
            <a:chExt cx="11726297" cy="730931"/>
          </a:xfrm>
        </p:grpSpPr>
        <p:grpSp>
          <p:nvGrpSpPr>
            <p:cNvPr id="8" name="Group 2"/>
            <p:cNvGrpSpPr/>
            <p:nvPr/>
          </p:nvGrpSpPr>
          <p:grpSpPr>
            <a:xfrm>
              <a:off x="155955" y="760262"/>
              <a:ext cx="11726297" cy="162840"/>
              <a:chOff x="155955" y="760262"/>
              <a:chExt cx="11726297" cy="1628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5099" y="831939"/>
                <a:ext cx="11717153" cy="0"/>
              </a:xfrm>
              <a:prstGeom prst="line">
                <a:avLst/>
              </a:prstGeom>
              <a:ln w="28575">
                <a:solidFill>
                  <a:srgbClr val="B3B3B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직사각형 12"/>
              <p:cNvSpPr/>
              <p:nvPr/>
            </p:nvSpPr>
            <p:spPr>
              <a:xfrm>
                <a:off x="772015" y="760262"/>
                <a:ext cx="616060" cy="162840"/>
              </a:xfrm>
              <a:prstGeom prst="rect">
                <a:avLst/>
              </a:prstGeom>
              <a:solidFill>
                <a:srgbClr val="DF32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55955" y="760262"/>
                <a:ext cx="616060" cy="162840"/>
              </a:xfrm>
              <a:prstGeom prst="rect">
                <a:avLst/>
              </a:prstGeom>
              <a:solidFill>
                <a:srgbClr val="B0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55955" y="192171"/>
              <a:ext cx="9728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 smtClean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Appendix</a:t>
              </a:r>
              <a:endParaRPr lang="ko-KR" alt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310394" y="1122946"/>
            <a:ext cx="11585195" cy="559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15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/>
          <p:nvPr/>
        </p:nvGrpSpPr>
        <p:grpSpPr>
          <a:xfrm>
            <a:off x="155955" y="192171"/>
            <a:ext cx="11726297" cy="730931"/>
            <a:chOff x="155955" y="192171"/>
            <a:chExt cx="11726297" cy="730931"/>
          </a:xfrm>
        </p:grpSpPr>
        <p:grpSp>
          <p:nvGrpSpPr>
            <p:cNvPr id="8" name="Group 2"/>
            <p:cNvGrpSpPr/>
            <p:nvPr/>
          </p:nvGrpSpPr>
          <p:grpSpPr>
            <a:xfrm>
              <a:off x="155955" y="760262"/>
              <a:ext cx="11726297" cy="162840"/>
              <a:chOff x="155955" y="760262"/>
              <a:chExt cx="11726297" cy="1628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5099" y="831939"/>
                <a:ext cx="11717153" cy="0"/>
              </a:xfrm>
              <a:prstGeom prst="line">
                <a:avLst/>
              </a:prstGeom>
              <a:ln w="28575">
                <a:solidFill>
                  <a:srgbClr val="B3B3B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직사각형 12"/>
              <p:cNvSpPr/>
              <p:nvPr/>
            </p:nvSpPr>
            <p:spPr>
              <a:xfrm>
                <a:off x="772015" y="760262"/>
                <a:ext cx="616060" cy="162840"/>
              </a:xfrm>
              <a:prstGeom prst="rect">
                <a:avLst/>
              </a:prstGeom>
              <a:solidFill>
                <a:srgbClr val="DF32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55955" y="760262"/>
                <a:ext cx="616060" cy="162840"/>
              </a:xfrm>
              <a:prstGeom prst="rect">
                <a:avLst/>
              </a:prstGeom>
              <a:solidFill>
                <a:srgbClr val="B0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55955" y="192171"/>
              <a:ext cx="9728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 smtClean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Data load function</a:t>
              </a:r>
              <a:endParaRPr lang="ko-KR" alt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469017"/>
              </p:ext>
            </p:extLst>
          </p:nvPr>
        </p:nvGraphicFramePr>
        <p:xfrm>
          <a:off x="329328" y="1186997"/>
          <a:ext cx="11441760" cy="549401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206482">
                  <a:extLst>
                    <a:ext uri="{9D8B030D-6E8A-4147-A177-3AD203B41FA5}">
                      <a16:colId xmlns:a16="http://schemas.microsoft.com/office/drawing/2014/main" val="3972882223"/>
                    </a:ext>
                  </a:extLst>
                </a:gridCol>
                <a:gridCol w="1178351">
                  <a:extLst>
                    <a:ext uri="{9D8B030D-6E8A-4147-A177-3AD203B41FA5}">
                      <a16:colId xmlns:a16="http://schemas.microsoft.com/office/drawing/2014/main" val="81776764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08355830"/>
                    </a:ext>
                  </a:extLst>
                </a:gridCol>
                <a:gridCol w="5313727">
                  <a:extLst>
                    <a:ext uri="{9D8B030D-6E8A-4147-A177-3AD203B41FA5}">
                      <a16:colId xmlns:a16="http://schemas.microsoft.com/office/drawing/2014/main" val="2904303357"/>
                    </a:ext>
                  </a:extLst>
                </a:gridCol>
              </a:tblGrid>
              <a:tr h="18452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/>
                        <a:t>데이터 포맷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확장자</a:t>
                      </a:r>
                      <a:endParaRPr lang="ko-KR" alt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대표 로드 함수</a:t>
                      </a:r>
                      <a:endParaRPr lang="ko-KR" alt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/>
                        <a:t>예시 코드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3243074363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EEGLAB dataset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.set, .fdt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pop_loadset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EEG = pop_loadset('filename','sub01.set','filepath',rawDir);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3194258542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MATLAB array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workspace variable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pop_importdata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EEG = pop_importdata('dataformat','array','data','eegdata','srate',256);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1919419060"/>
                  </a:ext>
                </a:extLst>
              </a:tr>
              <a:tr h="599701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MATLAB file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.mat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/>
                        <a:t>pop_importdata</a:t>
                      </a:r>
                      <a:r>
                        <a:rPr lang="en-US" sz="1000" dirty="0"/>
                        <a:t> </a:t>
                      </a:r>
                      <a:r>
                        <a:rPr lang="ko-KR" altLang="en-US" sz="1000" dirty="0"/>
                        <a:t>또는 </a:t>
                      </a:r>
                      <a:r>
                        <a:rPr lang="en-US" sz="1000" dirty="0"/>
                        <a:t>load </a:t>
                      </a:r>
                      <a:r>
                        <a:rPr lang="ko-KR" altLang="en-US" sz="1000" dirty="0"/>
                        <a:t>후 </a:t>
                      </a:r>
                      <a:r>
                        <a:rPr lang="en-US" sz="1000" dirty="0"/>
                        <a:t>import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EEG = pop_importdata('dataformat','matlab','data','sub01.mat','srate',256);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3286390893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ASCII / TXT / CSV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.txt, .csv, .asc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pop_importdata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EEG = pop_importdata('dataformat','ascii','data','sub01.csv','srate',256);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1748910762"/>
                  </a:ext>
                </a:extLst>
              </a:tr>
              <a:tr h="599701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Float binary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.f32, .float </a:t>
                      </a:r>
                      <a:r>
                        <a:rPr lang="ko-KR" altLang="en-US" sz="1000"/>
                        <a:t>등</a:t>
                      </a:r>
                      <a:endParaRPr lang="ko-KR" alt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/>
                        <a:t>pop_importdata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EEG = pop_importdata('dataformat','float32','data','sub01.f32','srate',256);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3142498327"/>
                  </a:ext>
                </a:extLst>
              </a:tr>
              <a:tr h="32291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BrainVision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.vhdr, .vmrk, .eeg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pop_loadbv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EEG = pop_loadbv(rawDir,'sub01.vhdr');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1742213574"/>
                  </a:ext>
                </a:extLst>
              </a:tr>
              <a:tr h="32291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EDF / BDF / GDF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.edf, .bdf, .gdf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pop_biosig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EEG = pop_biosig('sub01.bdf');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873212210"/>
                  </a:ext>
                </a:extLst>
              </a:tr>
              <a:tr h="32291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BioSemi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.bdf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/>
                        <a:t>pop_biosig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EEG = </a:t>
                      </a:r>
                      <a:r>
                        <a:rPr lang="en-US" sz="1000" dirty="0" err="1"/>
                        <a:t>pop_biosig</a:t>
                      </a:r>
                      <a:r>
                        <a:rPr lang="en-US" sz="1000" dirty="0"/>
                        <a:t>('</a:t>
                      </a:r>
                      <a:r>
                        <a:rPr lang="en-US" sz="1000" dirty="0" err="1"/>
                        <a:t>sub01.bdf</a:t>
                      </a:r>
                      <a:r>
                        <a:rPr lang="en-US" sz="1000" dirty="0"/>
                        <a:t>');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905806519"/>
                  </a:ext>
                </a:extLst>
              </a:tr>
              <a:tr h="32291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FieldTrip </a:t>
                      </a:r>
                      <a:r>
                        <a:rPr lang="ko-KR" altLang="en-US" sz="1000"/>
                        <a:t>지원 포맷</a:t>
                      </a:r>
                      <a:endParaRPr lang="ko-KR" alt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다양함</a:t>
                      </a:r>
                      <a:endParaRPr lang="ko-KR" alt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pop_fileio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EEG = </a:t>
                      </a:r>
                      <a:r>
                        <a:rPr lang="en-US" sz="1000" dirty="0" err="1"/>
                        <a:t>pop_fileio</a:t>
                      </a:r>
                      <a:r>
                        <a:rPr lang="en-US" sz="1000" dirty="0"/>
                        <a:t>('</a:t>
                      </a:r>
                      <a:r>
                        <a:rPr lang="en-US" sz="1000" dirty="0" err="1"/>
                        <a:t>sub01.xxx</a:t>
                      </a:r>
                      <a:r>
                        <a:rPr lang="en-US" sz="1000" dirty="0"/>
                        <a:t>');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3548729703"/>
                  </a:ext>
                </a:extLst>
              </a:tr>
              <a:tr h="32291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EGI / NetStation MFF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.mff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pop_mffimport </a:t>
                      </a:r>
                      <a:r>
                        <a:rPr lang="ko-KR" altLang="en-US" sz="1000"/>
                        <a:t>또는 </a:t>
                      </a:r>
                      <a:r>
                        <a:rPr lang="en-US" sz="1000"/>
                        <a:t>mff_import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EEG = </a:t>
                      </a:r>
                      <a:r>
                        <a:rPr lang="en-US" sz="1000" dirty="0" err="1"/>
                        <a:t>pop_mffimport</a:t>
                      </a:r>
                      <a:r>
                        <a:rPr lang="en-US" sz="1000" dirty="0"/>
                        <a:t>('</a:t>
                      </a:r>
                      <a:r>
                        <a:rPr lang="en-US" sz="1000" dirty="0" err="1"/>
                        <a:t>sub01.mff</a:t>
                      </a:r>
                      <a:r>
                        <a:rPr lang="en-US" sz="1000" dirty="0"/>
                        <a:t>');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2596406438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XDF / LSL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.xdf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pop_loadxdf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EEG = </a:t>
                      </a:r>
                      <a:r>
                        <a:rPr lang="en-US" sz="1000" dirty="0" err="1"/>
                        <a:t>pop_loadxdf</a:t>
                      </a:r>
                      <a:r>
                        <a:rPr lang="en-US" sz="1000" dirty="0"/>
                        <a:t>('sub01.</a:t>
                      </a:r>
                      <a:r>
                        <a:rPr lang="en-US" sz="1000" dirty="0" err="1"/>
                        <a:t>xdf</a:t>
                      </a:r>
                      <a:r>
                        <a:rPr lang="en-US" sz="1000" dirty="0"/>
                        <a:t>','</a:t>
                      </a:r>
                      <a:r>
                        <a:rPr lang="en-US" sz="1000" dirty="0" err="1"/>
                        <a:t>streamtype</a:t>
                      </a:r>
                      <a:r>
                        <a:rPr lang="en-US" sz="1000" dirty="0"/>
                        <a:t>','EEG');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1408627318"/>
                  </a:ext>
                </a:extLst>
              </a:tr>
              <a:tr h="32291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Neuroscan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.cnt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pop_loadcnt </a:t>
                      </a:r>
                      <a:r>
                        <a:rPr lang="ko-KR" altLang="en-US" sz="1000"/>
                        <a:t>또는 </a:t>
                      </a:r>
                      <a:r>
                        <a:rPr lang="en-US" sz="1000"/>
                        <a:t>pop_biosig / pop_fileio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EEG = </a:t>
                      </a:r>
                      <a:r>
                        <a:rPr lang="en-US" sz="1000" dirty="0" err="1"/>
                        <a:t>pop_loadcnt</a:t>
                      </a:r>
                      <a:r>
                        <a:rPr lang="en-US" sz="1000" dirty="0"/>
                        <a:t>('</a:t>
                      </a:r>
                      <a:r>
                        <a:rPr lang="en-US" sz="1000" dirty="0" err="1"/>
                        <a:t>sub01.cnt</a:t>
                      </a:r>
                      <a:r>
                        <a:rPr lang="en-US" sz="1000" dirty="0"/>
                        <a:t>');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2842485913"/>
                  </a:ext>
                </a:extLst>
              </a:tr>
              <a:tr h="32291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EGI simple binary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.raw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pop_readegi</a:t>
                      </a:r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EEG = </a:t>
                      </a:r>
                      <a:r>
                        <a:rPr lang="en-US" sz="1000" dirty="0" err="1"/>
                        <a:t>pop_readegi</a:t>
                      </a:r>
                      <a:r>
                        <a:rPr lang="en-US" sz="1000" dirty="0"/>
                        <a:t>('</a:t>
                      </a:r>
                      <a:r>
                        <a:rPr lang="en-US" sz="1000" dirty="0" err="1"/>
                        <a:t>sub01.raw</a:t>
                      </a:r>
                      <a:r>
                        <a:rPr lang="en-US" sz="1000" dirty="0"/>
                        <a:t>');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/>
                </a:tc>
                <a:extLst>
                  <a:ext uri="{0D108BD9-81ED-4DB2-BD59-A6C34878D82A}">
                    <a16:rowId xmlns:a16="http://schemas.microsoft.com/office/drawing/2014/main" val="2103688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45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/>
          <p:nvPr/>
        </p:nvGrpSpPr>
        <p:grpSpPr>
          <a:xfrm>
            <a:off x="155955" y="192171"/>
            <a:ext cx="11726297" cy="730931"/>
            <a:chOff x="155955" y="192171"/>
            <a:chExt cx="11726297" cy="730931"/>
          </a:xfrm>
        </p:grpSpPr>
        <p:grpSp>
          <p:nvGrpSpPr>
            <p:cNvPr id="8" name="Group 2"/>
            <p:cNvGrpSpPr/>
            <p:nvPr/>
          </p:nvGrpSpPr>
          <p:grpSpPr>
            <a:xfrm>
              <a:off x="155955" y="760262"/>
              <a:ext cx="11726297" cy="162840"/>
              <a:chOff x="155955" y="760262"/>
              <a:chExt cx="11726297" cy="1628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5099" y="831939"/>
                <a:ext cx="11717153" cy="0"/>
              </a:xfrm>
              <a:prstGeom prst="line">
                <a:avLst/>
              </a:prstGeom>
              <a:ln w="28575">
                <a:solidFill>
                  <a:srgbClr val="B3B3B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직사각형 12"/>
              <p:cNvSpPr/>
              <p:nvPr/>
            </p:nvSpPr>
            <p:spPr>
              <a:xfrm>
                <a:off x="772015" y="760262"/>
                <a:ext cx="616060" cy="162840"/>
              </a:xfrm>
              <a:prstGeom prst="rect">
                <a:avLst/>
              </a:prstGeom>
              <a:solidFill>
                <a:srgbClr val="DF32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55955" y="760262"/>
                <a:ext cx="616060" cy="162840"/>
              </a:xfrm>
              <a:prstGeom prst="rect">
                <a:avLst/>
              </a:prstGeom>
              <a:solidFill>
                <a:srgbClr val="B0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55955" y="192171"/>
              <a:ext cx="9728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 err="1" smtClean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Biosemi</a:t>
              </a:r>
              <a:r>
                <a:rPr lang="en-US" altLang="ko-KR" sz="2800" b="1" dirty="0" smtClean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 data specific</a:t>
              </a:r>
              <a:endParaRPr lang="ko-KR" alt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310394" y="1122946"/>
            <a:ext cx="11585195" cy="559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1" y="1336584"/>
            <a:ext cx="11846207" cy="491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0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/>
          <p:nvPr/>
        </p:nvGrpSpPr>
        <p:grpSpPr>
          <a:xfrm>
            <a:off x="155955" y="192171"/>
            <a:ext cx="11726297" cy="730931"/>
            <a:chOff x="155955" y="192171"/>
            <a:chExt cx="11726297" cy="730931"/>
          </a:xfrm>
        </p:grpSpPr>
        <p:grpSp>
          <p:nvGrpSpPr>
            <p:cNvPr id="8" name="Group 2"/>
            <p:cNvGrpSpPr/>
            <p:nvPr/>
          </p:nvGrpSpPr>
          <p:grpSpPr>
            <a:xfrm>
              <a:off x="155955" y="760262"/>
              <a:ext cx="11726297" cy="162840"/>
              <a:chOff x="155955" y="760262"/>
              <a:chExt cx="11726297" cy="162840"/>
            </a:xfrm>
          </p:grpSpPr>
          <p:cxnSp>
            <p:nvCxnSpPr>
              <p:cNvPr id="11" name="직선 연결선 10"/>
              <p:cNvCxnSpPr/>
              <p:nvPr/>
            </p:nvCxnSpPr>
            <p:spPr>
              <a:xfrm>
                <a:off x="165099" y="831939"/>
                <a:ext cx="11717153" cy="0"/>
              </a:xfrm>
              <a:prstGeom prst="line">
                <a:avLst/>
              </a:prstGeom>
              <a:ln w="28575">
                <a:solidFill>
                  <a:srgbClr val="B3B3B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직사각형 12"/>
              <p:cNvSpPr/>
              <p:nvPr/>
            </p:nvSpPr>
            <p:spPr>
              <a:xfrm>
                <a:off x="772015" y="760262"/>
                <a:ext cx="616060" cy="162840"/>
              </a:xfrm>
              <a:prstGeom prst="rect">
                <a:avLst/>
              </a:prstGeom>
              <a:solidFill>
                <a:srgbClr val="DF32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55955" y="760262"/>
                <a:ext cx="616060" cy="162840"/>
              </a:xfrm>
              <a:prstGeom prst="rect">
                <a:avLst/>
              </a:prstGeom>
              <a:solidFill>
                <a:srgbClr val="B0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55955" y="192171"/>
              <a:ext cx="9728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 err="1" smtClean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Matlab</a:t>
              </a:r>
              <a:r>
                <a:rPr lang="en-US" altLang="ko-KR" sz="2800" b="1" dirty="0" smtClean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ko-KR" sz="2800" b="1" dirty="0" err="1" smtClean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fft</a:t>
              </a:r>
              <a:endParaRPr lang="ko-KR" alt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 txBox="1">
            <a:spLocks/>
          </p:cNvSpPr>
          <p:nvPr/>
        </p:nvSpPr>
        <p:spPr>
          <a:xfrm>
            <a:off x="310394" y="1122946"/>
            <a:ext cx="11585195" cy="559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99" y="1352004"/>
            <a:ext cx="2621342" cy="134399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51" y="2642423"/>
            <a:ext cx="1488988" cy="56526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3" t="6547"/>
          <a:stretch/>
        </p:blipFill>
        <p:spPr>
          <a:xfrm>
            <a:off x="2786441" y="1430723"/>
            <a:ext cx="3962126" cy="253996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9" t="6610"/>
          <a:stretch/>
        </p:blipFill>
        <p:spPr>
          <a:xfrm>
            <a:off x="2786441" y="3970689"/>
            <a:ext cx="3930370" cy="25169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31736" y="1122946"/>
            <a:ext cx="3199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and negative spectrum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2" t="6732"/>
          <a:stretch/>
        </p:blipFill>
        <p:spPr>
          <a:xfrm>
            <a:off x="6801058" y="1428149"/>
            <a:ext cx="4073404" cy="25998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52894" y="1120372"/>
            <a:ext cx="3199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sided spectrum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89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66287</TotalTime>
  <Words>643</Words>
  <Application>Microsoft Office PowerPoint</Application>
  <PresentationFormat>와이드스크린</PresentationFormat>
  <Paragraphs>192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210 맨발의청춘 R</vt:lpstr>
      <vt:lpstr>HancomEQN</vt:lpstr>
      <vt:lpstr>맑은 고딕</vt:lpstr>
      <vt:lpstr>Arial</vt:lpstr>
      <vt:lpstr>Cambria Math</vt:lpstr>
      <vt:lpstr>Tahoma</vt:lpstr>
      <vt:lpstr>Times New Roman</vt:lpstr>
      <vt:lpstr>Verdana</vt:lpstr>
      <vt:lpstr>Wingdings</vt:lpstr>
      <vt:lpstr>Office 테마</vt:lpstr>
      <vt:lpstr>SSVEP manual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Bio_lab_HG</cp:lastModifiedBy>
  <cp:revision>13297</cp:revision>
  <cp:lastPrinted>2023-02-19T10:16:12Z</cp:lastPrinted>
  <dcterms:created xsi:type="dcterms:W3CDTF">2019-05-27T10:51:06Z</dcterms:created>
  <dcterms:modified xsi:type="dcterms:W3CDTF">2026-05-05T07:54:33Z</dcterms:modified>
</cp:coreProperties>
</file>